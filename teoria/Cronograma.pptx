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0" r:id="rId2"/>
    <p:sldId id="326" r:id="rId3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6CFC9-40F6-DC28-4EAC-2AD398D37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AD9C7-3564-D50A-9FCC-5BB4D68F4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F978A-7932-1512-DBC2-C130043C5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7199E-1208-FD13-9582-A3F4881E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379E5-4DDB-09B5-6680-2E0ACA17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0620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07E4-099D-103C-52D0-11A82254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F1875-A813-BC5C-D41F-E19BA581A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C06C1-CAFB-D774-D05B-386C05FF7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2A438-77D8-49DE-F388-311ECBAC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7250B-0658-4DC4-4F5E-1E34807F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20526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088F-0C46-A95D-B5B4-0F127935A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8C862-30AC-2B46-F9C9-B191041A2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2BE10-4A79-84EF-24A1-387980E3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27347-2BCB-E367-7F32-43BBB293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5B114-687F-A2A1-9F2F-98E2CFC0E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5097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2103-1A90-B378-DC5A-C5D2B067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628E7-658D-54CB-171E-20E25B087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996C2-ED76-0AD3-748C-736F67C25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D4CBC-2AB1-9601-0835-3F6BD204A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CEB14-5067-BD97-F94D-CF0E69C9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1497F-1C6C-5315-EB40-9D83388D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8724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ADE1-1096-87C4-4433-EC1D874A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63CB8-E9F6-DE6F-9918-0A692BBC3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0F37B-8255-FD4C-BE76-81237704A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A42521-BEB6-1D4F-B179-14B72C190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D4A13-3EC3-652C-F286-EA0050059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3D2A9-C239-134A-50A3-4077A4A0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97E4D-F2D8-5219-6BB5-E8B7DB6F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AEBC56-4F87-882A-D9B8-04786553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4399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4B08F-EED4-5C9C-1C2D-90CCEC47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DC09F-A9D6-997A-2049-37C74DFB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A80D9-904E-112B-9D73-3BFE98406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69B7E-05D9-EA94-CA5B-65629BB9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1284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82200-82C0-A8EE-02C2-F8AA235A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D3EFE-47A4-3DE9-2EFB-FD7CC461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922FB-BFBA-799A-BA6F-BB32A2F8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6518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8EA8-4F09-1F03-9924-1CD93F9F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4BCBD-7DB5-907C-2C78-A90DAD9F6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F261E-A3A8-78E8-6E95-34A314D03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FFCFF-CB00-BDCC-53D8-DD860193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28D43-CD93-91CA-373A-45C16F0A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635C3-6594-C9D6-54D6-0D1697A1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4105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1B5C-6191-168C-2D2F-96D097A3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56F56-78F2-49D6-EC58-93DF9E7E1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53DA4-7F9C-139D-E34D-662011587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00E15-47C4-56EC-23D8-001AD5FA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86935-6974-79F2-A6ED-FCBCFC35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28D88-D42B-6BE5-4B75-DE88E277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8442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0DB3-844A-0061-2621-AFBA5A9E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0060B-7F6D-7FD7-6E89-B0C1769AA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22A4A-878D-3527-DC75-2226A927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CBE9-47B3-0BAE-3B3E-F98C4188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F67DB-D951-DCD6-0882-25F7DAED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7543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4D5C5-5AC2-1993-C578-24E672577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75309-6913-21C3-1A34-8F2DE3A97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9B7A-ED58-A0A7-E731-B6DF23F1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A6521-551D-928B-E01F-836942C0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89769-F9E2-D572-595C-EE89F514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22322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c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360774" y="6477452"/>
            <a:ext cx="3414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8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sz="15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1436615" y="6308837"/>
            <a:ext cx="320808" cy="320808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50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27D429-903C-403E-A91E-3413C7FBF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386" y="985133"/>
            <a:ext cx="5468291" cy="585905"/>
          </a:xfrm>
        </p:spPr>
        <p:txBody>
          <a:bodyPr lIns="0" anchor="t">
            <a:noAutofit/>
          </a:bodyPr>
          <a:lstStyle>
            <a:lvl1pPr>
              <a:defRPr sz="3608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53EF393-3DBA-494A-AF34-ACE206FF8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5386" y="2305889"/>
            <a:ext cx="7459927" cy="3792758"/>
          </a:xfrm>
        </p:spPr>
        <p:txBody>
          <a:bodyPr lIns="0">
            <a:noAutofit/>
          </a:bodyPr>
          <a:lstStyle>
            <a:lvl1pPr marL="0" indent="0">
              <a:lnSpc>
                <a:spcPts val="1417"/>
              </a:lnSpc>
              <a:spcBef>
                <a:spcPts val="750"/>
              </a:spcBef>
              <a:spcAft>
                <a:spcPts val="750"/>
              </a:spcAft>
              <a:buNone/>
              <a:defRPr sz="12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FAC65DA7-3C33-485C-B20C-A039012FE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386" y="1810812"/>
            <a:ext cx="4726781" cy="495077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0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000" err="1"/>
              <a:t>Aximinct</a:t>
            </a:r>
            <a:r>
              <a:rPr lang="es-ES" sz="2000"/>
              <a:t> </a:t>
            </a:r>
            <a:r>
              <a:rPr lang="es-ES" sz="2000" err="1"/>
              <a:t>emquibus</a:t>
            </a:r>
            <a:r>
              <a:rPr lang="es-ES" sz="2000"/>
              <a:t> et </a:t>
            </a:r>
            <a:r>
              <a:rPr lang="es-ES" sz="2000" err="1"/>
              <a:t>facium</a:t>
            </a:r>
            <a:r>
              <a:rPr lang="es-ES" sz="2000"/>
              <a:t> </a:t>
            </a:r>
            <a:r>
              <a:rPr lang="es-ES" sz="2000" err="1"/>
              <a:t>natur</a:t>
            </a:r>
            <a:endParaRPr lang="en-US" sz="20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24FC6AE-9F44-4BC7-8570-A9AC27B43E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035" y="277478"/>
            <a:ext cx="1166712" cy="3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2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AFD800-3C84-28D1-7330-D918B3AE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2136A-EF85-53E3-96E7-B46B07110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A96B7-2372-F41F-3427-F672F59EC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5BF6B-1904-474F-81F9-8E2F879FD086}" type="datetimeFigureOut">
              <a:rPr lang="en-ES" smtClean="0"/>
              <a:t>5/2/26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B0747-40DD-D2D3-2847-D4E76B496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90A51-F17D-8502-0656-EBE1EE924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5B254-BFF7-C14A-8D6F-3E0CADE2977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3166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4D34-32FD-E89D-5643-7ADA46C8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7327E3-1382-9D22-52B6-A41652CDF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2CFF066-FE7B-D5BE-F8BE-840F271D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86" y="638292"/>
            <a:ext cx="5468291" cy="585905"/>
          </a:xfrm>
        </p:spPr>
        <p:txBody>
          <a:bodyPr/>
          <a:lstStyle/>
          <a:p>
            <a:r>
              <a:rPr lang="es-ES" dirty="0"/>
              <a:t>Contenidos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349C66-B1BF-0B84-D169-33BA8DB162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5386" y="1263370"/>
            <a:ext cx="10650033" cy="4998390"/>
          </a:xfrm>
        </p:spPr>
        <p:txBody>
          <a:bodyPr/>
          <a:lstStyle/>
          <a:p>
            <a:pPr marL="238115" indent="-238115">
              <a:buFont typeface="Arial" panose="020B0604020202020204" pitchFamily="34" charset="0"/>
              <a:buChar char="•"/>
            </a:pPr>
            <a:r>
              <a:rPr lang="es-ES" sz="1800" b="1" dirty="0"/>
              <a:t>I. El universo observable</a:t>
            </a:r>
          </a:p>
          <a:p>
            <a:pPr marL="923915" lvl="1" indent="-238115"/>
            <a:r>
              <a:rPr lang="es-ES" sz="1800" dirty="0"/>
              <a:t>Modelo cosmológico estándar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s-ES" sz="1800" b="1" dirty="0"/>
              <a:t>II. Dinámica y modelos cosmológicos</a:t>
            </a:r>
          </a:p>
          <a:p>
            <a:pPr marL="923915" lvl="1" indent="-238115"/>
            <a:r>
              <a:rPr lang="es-ES" sz="1800" dirty="0"/>
              <a:t>Ecuaciones de Friedman</a:t>
            </a:r>
          </a:p>
          <a:p>
            <a:pPr marL="923915" lvl="1" indent="-238115"/>
            <a:r>
              <a:rPr lang="es-ES" sz="1800" dirty="0"/>
              <a:t>Modelos cosmológicos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s-ES" sz="1800" b="1" dirty="0"/>
              <a:t>III. Parámetros cosmológicos observacionales</a:t>
            </a:r>
          </a:p>
          <a:p>
            <a:pPr marL="923915" lvl="1" indent="-238115"/>
            <a:r>
              <a:rPr lang="es-ES" sz="1800" dirty="0"/>
              <a:t>Constante de Hubble</a:t>
            </a:r>
          </a:p>
          <a:p>
            <a:pPr marL="923915" lvl="1" indent="-238115"/>
            <a:r>
              <a:rPr lang="es-ES" sz="1800" dirty="0"/>
              <a:t>Densidad Crítica</a:t>
            </a:r>
          </a:p>
          <a:p>
            <a:pPr marL="923915" lvl="1" indent="-238115"/>
            <a:r>
              <a:rPr lang="es-ES" sz="1800" dirty="0"/>
              <a:t>Taller A: </a:t>
            </a:r>
            <a:r>
              <a:rPr lang="es-ES" sz="1800" dirty="0">
                <a:solidFill>
                  <a:schemeClr val="tx1"/>
                </a:solidFill>
              </a:rPr>
              <a:t>Clasificación de modelos cosmológicos</a:t>
            </a:r>
            <a:endParaRPr lang="es-ES" sz="1800" dirty="0"/>
          </a:p>
          <a:p>
            <a:pPr marL="923915" lvl="1" indent="-238115"/>
            <a:r>
              <a:rPr lang="es-ES" sz="1800" dirty="0"/>
              <a:t>Taller B: </a:t>
            </a:r>
            <a:r>
              <a:rPr lang="es-ES" sz="1800" dirty="0">
                <a:solidFill>
                  <a:schemeClr val="tx1"/>
                </a:solidFill>
              </a:rPr>
              <a:t>Ajuste del modelo cosmológico estándar con datos observacionales</a:t>
            </a:r>
            <a:endParaRPr lang="es-ES" sz="1800" dirty="0"/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s-ES" sz="1800" b="1" dirty="0"/>
              <a:t>IV. Materia y densidad oscura</a:t>
            </a:r>
          </a:p>
          <a:p>
            <a:pPr marL="923915" lvl="1" indent="-238115"/>
            <a:r>
              <a:rPr lang="es-ES" sz="1800" dirty="0"/>
              <a:t>Taller C: </a:t>
            </a:r>
            <a:r>
              <a:rPr lang="es-ES" sz="1800" dirty="0">
                <a:solidFill>
                  <a:schemeClr val="tx1"/>
                </a:solidFill>
              </a:rPr>
              <a:t>Propiedades de la energía oscura</a:t>
            </a:r>
            <a:endParaRPr lang="es-ES" sz="1800" dirty="0"/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s-ES" sz="1800" b="1" dirty="0"/>
              <a:t>V. El universo temprano</a:t>
            </a:r>
          </a:p>
          <a:p>
            <a:pPr marL="923915" lvl="1" indent="-238115"/>
            <a:r>
              <a:rPr lang="es-ES" sz="1800" dirty="0"/>
              <a:t>Taller D: </a:t>
            </a:r>
            <a:r>
              <a:rPr lang="es-ES" sz="1800" dirty="0">
                <a:solidFill>
                  <a:schemeClr val="tx1"/>
                </a:solidFill>
              </a:rPr>
              <a:t>Cálculos de abundancia, creación y aniquilación de especies</a:t>
            </a:r>
          </a:p>
          <a:p>
            <a:pPr marL="923915" lvl="1" indent="-238115"/>
            <a:endParaRPr lang="es-ES" sz="1800" dirty="0"/>
          </a:p>
          <a:p>
            <a:pPr marL="923915" lvl="1" indent="-238115"/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292027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6F8F-E2BD-9427-733F-3E7108B2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D789E20-228D-ECFD-BC50-1F0BCF281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106911" y="5956772"/>
            <a:ext cx="524518" cy="329368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2</a:t>
            </a:fld>
            <a:endParaRPr lang="es-E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F8BF04-BE90-6F7D-4268-B2BD3F82B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005807"/>
              </p:ext>
            </p:extLst>
          </p:nvPr>
        </p:nvGraphicFramePr>
        <p:xfrm>
          <a:off x="2083157" y="1096028"/>
          <a:ext cx="3598646" cy="2295766"/>
        </p:xfrm>
        <a:graphic>
          <a:graphicData uri="http://schemas.openxmlformats.org/drawingml/2006/table">
            <a:tbl>
              <a:tblPr/>
              <a:tblGrid>
                <a:gridCol w="411428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dirty="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 sz="1500" dirty="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30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A737694-3D80-E049-CFF1-CCE2016C4E5F}"/>
              </a:ext>
            </a:extLst>
          </p:cNvPr>
          <p:cNvSpPr txBox="1"/>
          <p:nvPr/>
        </p:nvSpPr>
        <p:spPr>
          <a:xfrm>
            <a:off x="3145497" y="711307"/>
            <a:ext cx="1503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000" dirty="0">
                <a:latin typeface="Chalkduster" panose="03050602040202020205" pitchFamily="66" charset="77"/>
              </a:rPr>
              <a:t>FEBRERO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595514-7B9D-8E60-02FE-9B856B490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364231"/>
              </p:ext>
            </p:extLst>
          </p:nvPr>
        </p:nvGraphicFramePr>
        <p:xfrm>
          <a:off x="7048280" y="1096029"/>
          <a:ext cx="3598645" cy="2295766"/>
        </p:xfrm>
        <a:graphic>
          <a:graphicData uri="http://schemas.openxmlformats.org/drawingml/2006/table">
            <a:tbl>
              <a:tblPr/>
              <a:tblGrid>
                <a:gridCol w="411428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597100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465305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dirty="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 sz="1500" dirty="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30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29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30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31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34A69C7-8297-B1B0-6212-0970ECA20A98}"/>
              </a:ext>
            </a:extLst>
          </p:cNvPr>
          <p:cNvSpPr txBox="1"/>
          <p:nvPr/>
        </p:nvSpPr>
        <p:spPr>
          <a:xfrm>
            <a:off x="8110620" y="711307"/>
            <a:ext cx="1171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000" dirty="0">
                <a:latin typeface="Chalkduster" panose="03050602040202020205" pitchFamily="66" charset="77"/>
              </a:rPr>
              <a:t>MARZO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9C6B9ED-C3A9-D2C0-831E-CF0969AFB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4433"/>
              </p:ext>
            </p:extLst>
          </p:nvPr>
        </p:nvGraphicFramePr>
        <p:xfrm>
          <a:off x="2083157" y="3845620"/>
          <a:ext cx="3598646" cy="2295766"/>
        </p:xfrm>
        <a:graphic>
          <a:graphicData uri="http://schemas.openxmlformats.org/drawingml/2006/table">
            <a:tbl>
              <a:tblPr/>
              <a:tblGrid>
                <a:gridCol w="411428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30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29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30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D1263AF-0E1F-6263-9AB9-5F393D090C2F}"/>
              </a:ext>
            </a:extLst>
          </p:cNvPr>
          <p:cNvSpPr txBox="1"/>
          <p:nvPr/>
        </p:nvSpPr>
        <p:spPr>
          <a:xfrm>
            <a:off x="3282388" y="3460898"/>
            <a:ext cx="1058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000" dirty="0">
                <a:latin typeface="Chalkduster" panose="03050602040202020205" pitchFamily="66" charset="77"/>
              </a:rPr>
              <a:t>ABRIL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9472B25-B8CF-CB4D-CA7F-7474CD789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112610"/>
              </p:ext>
            </p:extLst>
          </p:nvPr>
        </p:nvGraphicFramePr>
        <p:xfrm>
          <a:off x="7058084" y="3845620"/>
          <a:ext cx="3598646" cy="2295766"/>
        </p:xfrm>
        <a:graphic>
          <a:graphicData uri="http://schemas.openxmlformats.org/drawingml/2006/table">
            <a:tbl>
              <a:tblPr/>
              <a:tblGrid>
                <a:gridCol w="411428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53120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dirty="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 sz="1500" dirty="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 sz="1500"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30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kern="12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29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30</a:t>
                      </a: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sz="1500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31</a:t>
                      </a: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27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sz="1500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1750" marR="31750" marT="31750" marB="317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56859C-51D7-0B28-E611-D8A539BD5250}"/>
              </a:ext>
            </a:extLst>
          </p:cNvPr>
          <p:cNvSpPr txBox="1"/>
          <p:nvPr/>
        </p:nvSpPr>
        <p:spPr>
          <a:xfrm>
            <a:off x="8350743" y="3460898"/>
            <a:ext cx="978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000" dirty="0">
                <a:latin typeface="Chalkduster" panose="03050602040202020205" pitchFamily="66" charset="77"/>
              </a:rPr>
              <a:t>MAYO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F0989-E54D-907A-431B-79ECC563F434}"/>
              </a:ext>
            </a:extLst>
          </p:cNvPr>
          <p:cNvSpPr txBox="1"/>
          <p:nvPr/>
        </p:nvSpPr>
        <p:spPr>
          <a:xfrm>
            <a:off x="1744717" y="2406868"/>
            <a:ext cx="243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A24A5F-B50F-9396-8C93-5730D8E9F6C2}"/>
              </a:ext>
            </a:extLst>
          </p:cNvPr>
          <p:cNvSpPr txBox="1"/>
          <p:nvPr/>
        </p:nvSpPr>
        <p:spPr>
          <a:xfrm>
            <a:off x="1713187" y="274467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II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405AA0-71B0-347E-E3BC-3027A8418AFA}"/>
              </a:ext>
            </a:extLst>
          </p:cNvPr>
          <p:cNvSpPr txBox="1"/>
          <p:nvPr/>
        </p:nvSpPr>
        <p:spPr>
          <a:xfrm>
            <a:off x="1637846" y="210617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SR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1C6BE8-C443-12A8-3064-173E32B8EEFD}"/>
              </a:ext>
            </a:extLst>
          </p:cNvPr>
          <p:cNvSpPr txBox="1"/>
          <p:nvPr/>
        </p:nvSpPr>
        <p:spPr>
          <a:xfrm>
            <a:off x="6631429" y="173684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II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6D82DB-65D4-C82F-C1F2-C54DDA51457E}"/>
              </a:ext>
            </a:extLst>
          </p:cNvPr>
          <p:cNvSpPr txBox="1"/>
          <p:nvPr/>
        </p:nvSpPr>
        <p:spPr>
          <a:xfrm>
            <a:off x="6601773" y="208926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III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71602E-BDE0-E1E6-3107-99D0C7A84985}"/>
              </a:ext>
            </a:extLst>
          </p:cNvPr>
          <p:cNvSpPr txBox="1"/>
          <p:nvPr/>
        </p:nvSpPr>
        <p:spPr>
          <a:xfrm>
            <a:off x="6574719" y="2438398"/>
            <a:ext cx="420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59D146-7E34-A978-6C33-50CEBCC2EEE9}"/>
              </a:ext>
            </a:extLst>
          </p:cNvPr>
          <p:cNvSpPr txBox="1"/>
          <p:nvPr/>
        </p:nvSpPr>
        <p:spPr>
          <a:xfrm>
            <a:off x="6570549" y="274467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8ED582-F918-89EB-A2A9-F01DE6D399F4}"/>
              </a:ext>
            </a:extLst>
          </p:cNvPr>
          <p:cNvSpPr txBox="1"/>
          <p:nvPr/>
        </p:nvSpPr>
        <p:spPr>
          <a:xfrm>
            <a:off x="1637846" y="4514191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59FF17-CB26-2057-8FD9-57ADF049F699}"/>
              </a:ext>
            </a:extLst>
          </p:cNvPr>
          <p:cNvSpPr txBox="1"/>
          <p:nvPr/>
        </p:nvSpPr>
        <p:spPr>
          <a:xfrm>
            <a:off x="1642439" y="4834151"/>
            <a:ext cx="39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IV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F61DC2-A2EE-328C-0C88-99EABF91C339}"/>
              </a:ext>
            </a:extLst>
          </p:cNvPr>
          <p:cNvSpPr txBox="1"/>
          <p:nvPr/>
        </p:nvSpPr>
        <p:spPr>
          <a:xfrm>
            <a:off x="1600574" y="5152683"/>
            <a:ext cx="449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4E85D2-E27E-01CE-D175-AD4D8FDAA5A0}"/>
              </a:ext>
            </a:extLst>
          </p:cNvPr>
          <p:cNvSpPr txBox="1"/>
          <p:nvPr/>
        </p:nvSpPr>
        <p:spPr>
          <a:xfrm>
            <a:off x="1674173" y="547763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85B7F3-411F-7DF2-D397-CF9B5069FDF0}"/>
              </a:ext>
            </a:extLst>
          </p:cNvPr>
          <p:cNvSpPr txBox="1"/>
          <p:nvPr/>
        </p:nvSpPr>
        <p:spPr>
          <a:xfrm>
            <a:off x="6611002" y="451419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5FCC20-72DB-DA92-626B-DABC8BEE0354}"/>
              </a:ext>
            </a:extLst>
          </p:cNvPr>
          <p:cNvSpPr txBox="1"/>
          <p:nvPr/>
        </p:nvSpPr>
        <p:spPr>
          <a:xfrm>
            <a:off x="6601773" y="483105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2B34D9-F683-84B4-E19A-2B7623BB15F9}"/>
              </a:ext>
            </a:extLst>
          </p:cNvPr>
          <p:cNvSpPr txBox="1"/>
          <p:nvPr/>
        </p:nvSpPr>
        <p:spPr>
          <a:xfrm>
            <a:off x="6603200" y="516451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TE</a:t>
            </a:r>
          </a:p>
        </p:txBody>
      </p:sp>
    </p:spTree>
    <p:extLst>
      <p:ext uri="{BB962C8B-B14F-4D97-AF65-F5344CB8AC3E}">
        <p14:creationId xmlns:p14="http://schemas.microsoft.com/office/powerpoint/2010/main" val="3560120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247</Words>
  <Application>Microsoft Macintosh PowerPoint</Application>
  <PresentationFormat>Widescreen</PresentationFormat>
  <Paragraphs>183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Chalkduster</vt:lpstr>
      <vt:lpstr>Office Theme</vt:lpstr>
      <vt:lpstr>Contenidos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Inaki Ortiz De Landaluce</dc:creator>
  <cp:lastModifiedBy>Inaki Ortiz De Landaluce</cp:lastModifiedBy>
  <cp:revision>4</cp:revision>
  <dcterms:created xsi:type="dcterms:W3CDTF">2026-02-05T18:00:31Z</dcterms:created>
  <dcterms:modified xsi:type="dcterms:W3CDTF">2026-02-05T18:23:01Z</dcterms:modified>
</cp:coreProperties>
</file>